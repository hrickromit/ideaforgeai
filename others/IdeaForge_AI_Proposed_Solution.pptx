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599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panel. Introduce the project name and one-line framing: IdeaForge AI is the proposed solution that follows directly from the research gap identified in the literature review. Keep this slide short — under 30 seconds — and move quickly into the gap-to-objective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bridge slide — do not re-explain the literature review. State it as: 'The lit review surfaced five concrete gaps; IdeaForge AI's design directly targets each one.' Walk the panel down the five rows quickly, pointing at gap then objective — this sets up every following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the single architecture diagram for the whole system. Read it top-down: the three portals share one React frontend, calls go through FastAPI over JWT-secured REST, and the backend fans out to three specialized stores — PostgreSQL for records, ChromaDB for embeddings, Gemini for generation — before deployment via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portals map directly to the three stakeholder groups from the PRD personas. The journey strip at the bottom shows how a student moves through the whole platform end-to-end, tying the portal features together into one flow — mention that faculty and admin actions plug into the same backend at the review and archive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technical core of the whole system. Two pipelines: an offline indexing pipeline that turns the archive into vectors, and a live query pipeline used identically by search, similarity, and the chatbot. Emphasize groundedness — this is what separates IdeaForge AI from a generic chatbot wrapper, directly answering the 'no RAG-based assistant' gap from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workflows share the same retrieval core from the previous slide but branch for two different jobs. Left: search returns ranked prior projects. Right: a new proposal is scored for similarity against the archive, and the LLM turns that score into a plain-language novelty explanation and a difficulty estimate — this feeds directly into the Faculty Portal's similarity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pipelines reuse the RAG core from slide 5 — retrieval before generation — which is why the recommendations differ from what a generic LLM prompt would produce. Technology recommendation looks at similar past projects; supervisor recommendation matches against faculty research-interest embeddings, addressing the 'limited student guidance' gap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schema is centered on Proposals, which links to Users, Departments, the Archived Projects it's compared against, its Similarity Reports, Recommendations, faculty Reviews, and chatbot Chat Sessions/Feedback. Right: walk the stack top to bottom — note FastAPI over the originally-proposed Django for async performance, and Chroma alongside Postgres to split relational data from vector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 are the KPI targets straight from the PRD success-metrics table — cite these as how we'll validate the system, not just claim it works. Bottom rows return to the gap/objective framing from slide 2, but now phrased as a competitive comparison — useful as your closing evidence before future work and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come directly from the PRD's Future Scope section — present quickly, this is not the focus of the defense. The point is to show the architecture was designed to extend cleanly (e.g., local LLM fallback, mobile client) without a rebuild.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vision statement, restated crisply — this echoes the PRD vision statement but compressed to one sentence. Open the floor for questions. Keep this slide on screen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17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0.pn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C4B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41C4B"/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1234440"/>
            <a:ext cx="914400" cy="914400"/>
          </a:xfrm>
          <a:prstGeom prst="ellipse">
            <a:avLst/>
          </a:prstGeom>
          <a:solidFill>
            <a:srgbClr val="29B6D8"/>
          </a:solidFill>
          <a:ln/>
        </p:spPr>
      </p:sp>
      <p:pic>
        <p:nvPicPr>
          <p:cNvPr id="5" name="Image 0" descr="/home/claude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76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4231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IdeaForge AI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Academic Project Intelligence Platform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271516" y="3977640"/>
            <a:ext cx="1645920" cy="0"/>
          </a:xfrm>
          <a:prstGeom prst="line">
            <a:avLst/>
          </a:prstGeom>
          <a:noFill/>
          <a:ln w="19050">
            <a:solidFill>
              <a:srgbClr val="29B6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1605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5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 ·  CSE299 PROJECT</a:t>
            </a:r>
          </a:p>
          <a:p>
            <a:pPr marL="0" indent="0" algn="ctr">
              <a:buNone/>
            </a:pPr>
            <a:endParaRPr lang="en-US" sz="1250" b="1" kern="0" spc="150" dirty="0">
              <a:solidFill>
                <a:srgbClr val="29B6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50" b="1" kern="0" spc="15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Group-2</a:t>
            </a:r>
            <a:br>
              <a:rPr lang="en-US" sz="1250" b="1" kern="0" spc="15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50" b="1" kern="0" spc="15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Hrick Romit Barai (ID: 2322136642)</a:t>
            </a:r>
          </a:p>
          <a:p>
            <a:pPr marL="0" indent="0" algn="ctr">
              <a:buNone/>
            </a:pPr>
            <a:r>
              <a:rPr lang="en-US" sz="1250" b="1" kern="0" spc="15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Imtiaz Ahmed Khan (ID: 2323985642)</a:t>
            </a:r>
          </a:p>
          <a:p>
            <a:pPr marL="0" indent="0" algn="ctr">
              <a:buNone/>
            </a:pPr>
            <a:r>
              <a:rPr lang="en-US" sz="1250" b="1" kern="0" spc="15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Adib Araf </a:t>
            </a:r>
            <a:r>
              <a:rPr lang="en-US" sz="1250" b="1" kern="0" spc="150" dirty="0" err="1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Sabab</a:t>
            </a:r>
            <a:r>
              <a:rPr lang="en-US" sz="1250" b="1" kern="0" spc="15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(ID: 23221363042)</a:t>
            </a:r>
          </a:p>
          <a:p>
            <a:pPr marL="0" indent="0" algn="ctr">
              <a:buNone/>
            </a:pPr>
            <a:r>
              <a:rPr lang="en-US" sz="1250" b="1" kern="0" spc="15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Yoshiki Zaman (ID: 2311806042)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0" y="59893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 ·  Semantic Search  ·  Faculty &amp; Student Portals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0" y="630936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IdeaForge  |  Department of Computer Science &amp; Engineering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LITERATURE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Research Gap to 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IdeaForge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objective below directly answers a gap the literature review identified in existing academic tools.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1417320"/>
            <a:ext cx="6291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E9F0FD"/>
          </a:solidFill>
          <a:ln/>
        </p:spPr>
      </p:sp>
      <p:pic>
        <p:nvPicPr>
          <p:cNvPr id="10" name="Image 0" descr="/home/claude/icons_navy/x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915668"/>
            <a:ext cx="448056" cy="4480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52728" y="1764792"/>
            <a:ext cx="3255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Keyword-only search with no semantic understanding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00600" y="2002536"/>
            <a:ext cx="301752" cy="274320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0" y="1691640"/>
            <a:ext cx="6291072" cy="896112"/>
          </a:xfrm>
          <a:prstGeom prst="roundRect">
            <a:avLst>
              <a:gd name="adj" fmla="val 8163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14" name="Image 1" descr="/home/claude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1915668"/>
            <a:ext cx="448056" cy="4480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36208" y="1764792"/>
            <a:ext cx="5340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powered by Sentence-BERT embeddings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2920" y="2697480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E9F0FD"/>
          </a:solidFill>
          <a:ln/>
        </p:spPr>
      </p:sp>
      <p:pic>
        <p:nvPicPr>
          <p:cNvPr id="17" name="Image 2" descr="/home/claude/icons_navy/x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21508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52728" y="2770632"/>
            <a:ext cx="3255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proposal similarity or novelty check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00600" y="3008376"/>
            <a:ext cx="301752" cy="274320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20" name="Shape 15"/>
          <p:cNvSpPr/>
          <p:nvPr/>
        </p:nvSpPr>
        <p:spPr>
          <a:xfrm>
            <a:off x="5486400" y="2697480"/>
            <a:ext cx="6291072" cy="896112"/>
          </a:xfrm>
          <a:prstGeom prst="roundRect">
            <a:avLst>
              <a:gd name="adj" fmla="val 8163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21" name="Image 3" descr="/home/claude/icons/cl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92" y="2921508"/>
            <a:ext cx="448056" cy="4480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36208" y="2770632"/>
            <a:ext cx="5340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similarity detection with LLM-based novelty analysis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02920" y="3703320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E9F0FD"/>
          </a:solidFill>
          <a:ln/>
        </p:spPr>
      </p:sp>
      <p:pic>
        <p:nvPicPr>
          <p:cNvPr id="24" name="Image 4" descr="/home/claude/icons_navy/x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927348"/>
            <a:ext cx="448056" cy="4480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52728" y="3776472"/>
            <a:ext cx="3255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AI-driven technology or supervisor guidance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800600" y="4014216"/>
            <a:ext cx="301752" cy="274320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27" name="Shape 20"/>
          <p:cNvSpPr/>
          <p:nvPr/>
        </p:nvSpPr>
        <p:spPr>
          <a:xfrm>
            <a:off x="5486400" y="3703320"/>
            <a:ext cx="6291072" cy="896112"/>
          </a:xfrm>
          <a:prstGeom prst="roundRect">
            <a:avLst>
              <a:gd name="adj" fmla="val 8163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28" name="Image 5" descr="/home/claude/icons/usert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992" y="3927348"/>
            <a:ext cx="448056" cy="4480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236208" y="3776472"/>
            <a:ext cx="5340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technology &amp; supervisor recommendations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502920" y="4709160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E9F0FD"/>
          </a:solidFill>
          <a:ln/>
        </p:spPr>
      </p:sp>
      <p:pic>
        <p:nvPicPr>
          <p:cNvPr id="31" name="Image 6" descr="/home/claude/icons_navy/x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933188"/>
            <a:ext cx="448056" cy="4480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252728" y="4782312"/>
            <a:ext cx="3255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student-faculty collaboration platform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4800600" y="5020056"/>
            <a:ext cx="301752" cy="274320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34" name="Shape 25"/>
          <p:cNvSpPr/>
          <p:nvPr/>
        </p:nvSpPr>
        <p:spPr>
          <a:xfrm>
            <a:off x="5486400" y="4709160"/>
            <a:ext cx="6291072" cy="896112"/>
          </a:xfrm>
          <a:prstGeom prst="roundRect">
            <a:avLst>
              <a:gd name="adj" fmla="val 8163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35" name="Image 7" descr="/home/claude/icons/user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0992" y="4933188"/>
            <a:ext cx="448056" cy="44805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236208" y="4782312"/>
            <a:ext cx="5340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ecosystem: Student, Faculty &amp; Admin portals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502920" y="5715000"/>
            <a:ext cx="4160520" cy="896112"/>
          </a:xfrm>
          <a:prstGeom prst="roundRect">
            <a:avLst>
              <a:gd name="adj" fmla="val 8163"/>
            </a:avLst>
          </a:prstGeom>
          <a:solidFill>
            <a:srgbClr val="E9F0FD"/>
          </a:solidFill>
          <a:ln/>
        </p:spPr>
      </p:sp>
      <p:pic>
        <p:nvPicPr>
          <p:cNvPr id="38" name="Image 8" descr="/home/claude/icons_navy/x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939028"/>
            <a:ext cx="448056" cy="44805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52728" y="5788152"/>
            <a:ext cx="3255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RAG-based assistant for grounded guidance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4800600" y="6025896"/>
            <a:ext cx="301752" cy="274320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41" name="Shape 30"/>
          <p:cNvSpPr/>
          <p:nvPr/>
        </p:nvSpPr>
        <p:spPr>
          <a:xfrm>
            <a:off x="5486400" y="5715000"/>
            <a:ext cx="6291072" cy="896112"/>
          </a:xfrm>
          <a:prstGeom prst="roundRect">
            <a:avLst>
              <a:gd name="adj" fmla="val 8163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42" name="Image 9" descr="/home/claude/icons/rob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0992" y="5939028"/>
            <a:ext cx="448056" cy="44805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236208" y="5788152"/>
            <a:ext cx="5340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 grounded in the institution's own project data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&amp; 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IdeaForge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IdeaForge AI is a RAG-grounded academic intelligence platform: three role-based portals sit on a FastAPI core that couples a relational store, a vector store, and an LLM — so every recommendation traces back to real institutional data.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106070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pic>
        <p:nvPicPr>
          <p:cNvPr id="8" name="Image 0" descr="/home/claude/icons/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027956"/>
            <a:ext cx="351495" cy="3514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2199" y="1920240"/>
            <a:ext cx="98349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Frontend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452360" y="19202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   ·   Faculty Portal   ·   Admin Portal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71032" y="2542032"/>
            <a:ext cx="219456" cy="241402"/>
          </a:xfrm>
          <a:prstGeom prst="downArrow">
            <a:avLst/>
          </a:prstGeom>
          <a:solidFill>
            <a:srgbClr val="8592AA"/>
          </a:solidFill>
          <a:ln/>
        </p:spPr>
      </p:sp>
      <p:sp>
        <p:nvSpPr>
          <p:cNvPr id="12" name="Text 9"/>
          <p:cNvSpPr/>
          <p:nvPr/>
        </p:nvSpPr>
        <p:spPr>
          <a:xfrm>
            <a:off x="6263640" y="25054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JWT Auth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77240" y="2871216"/>
            <a:ext cx="106070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pic>
        <p:nvPicPr>
          <p:cNvPr id="14" name="Image 1" descr="/home/claude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2978932"/>
            <a:ext cx="351495" cy="35149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2199" y="2871216"/>
            <a:ext cx="98349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178040" y="287121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routers: auth · projects · proposals · ai · admin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71032" y="3493008"/>
            <a:ext cx="219456" cy="241402"/>
          </a:xfrm>
          <a:prstGeom prst="downArrow">
            <a:avLst/>
          </a:prstGeom>
          <a:solidFill>
            <a:srgbClr val="8592AA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" y="3822192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E9F0FD"/>
          </a:solidFill>
          <a:ln/>
        </p:spPr>
      </p:sp>
      <p:pic>
        <p:nvPicPr>
          <p:cNvPr id="19" name="Image 2" descr="/home/claude/icons_navy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3969868"/>
            <a:ext cx="481889" cy="48188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42593" y="3877056"/>
            <a:ext cx="2480767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542593" y="4226357"/>
            <a:ext cx="2480767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2761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389120" y="3822192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E9F0FD"/>
          </a:solidFill>
          <a:ln/>
        </p:spPr>
      </p:sp>
      <p:pic>
        <p:nvPicPr>
          <p:cNvPr id="23" name="Image 3" descr="/home/claude/icons_navy/layergro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424" y="3969868"/>
            <a:ext cx="481889" cy="48188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54473" y="3877056"/>
            <a:ext cx="2480767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154473" y="4226357"/>
            <a:ext cx="2480767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2761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8001000" y="3822192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E9F0FD"/>
          </a:solidFill>
          <a:ln/>
        </p:spPr>
      </p:sp>
      <p:pic>
        <p:nvPicPr>
          <p:cNvPr id="27" name="Image 4" descr="/home/claude/icons_navy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3969868"/>
            <a:ext cx="481889" cy="48188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766353" y="3877056"/>
            <a:ext cx="2480767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8766353" y="4226357"/>
            <a:ext cx="2480767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2761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LangChain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5971032" y="4654296"/>
            <a:ext cx="219456" cy="241402"/>
          </a:xfrm>
          <a:prstGeom prst="downArrow">
            <a:avLst/>
          </a:prstGeom>
          <a:solidFill>
            <a:srgbClr val="8592AA"/>
          </a:solidFill>
          <a:ln/>
        </p:spPr>
      </p:sp>
      <p:sp>
        <p:nvSpPr>
          <p:cNvPr id="31" name="Shape 24"/>
          <p:cNvSpPr/>
          <p:nvPr/>
        </p:nvSpPr>
        <p:spPr>
          <a:xfrm>
            <a:off x="777240" y="4983480"/>
            <a:ext cx="10607040" cy="566928"/>
          </a:xfrm>
          <a:prstGeom prst="roundRect">
            <a:avLst>
              <a:gd name="adj" fmla="val 12903"/>
            </a:avLst>
          </a:prstGeom>
          <a:solidFill>
            <a:srgbClr val="29B6D8"/>
          </a:solidFill>
          <a:ln/>
        </p:spPr>
      </p:sp>
      <p:pic>
        <p:nvPicPr>
          <p:cNvPr id="32" name="Image 5" descr="/home/claude/icons/boxop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544" y="5091196"/>
            <a:ext cx="351495" cy="35149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412199" y="4983480"/>
            <a:ext cx="983492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  →  Render / Railway / VPS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SURFACE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Portals, One Ecosystem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IdeaForge AI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61388" y="1627632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icons/user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124" y="18013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4505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Portal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29443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8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project search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77240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8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idea suggestions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77240" y="37856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8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&amp; novelty score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77240" y="4206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8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 Q&amp;A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334256" y="13716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92724" y="1627632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home/claude/icons/chalk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1801368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34256" y="24505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Portal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608576" y="29443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8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review queue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608576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8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summaries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608576" y="37856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8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report view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608576" y="4206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8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/ comment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8165592" y="13716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624060" y="1627632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/home/claude/icons/user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7796" y="1801368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165592" y="24505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Portal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439912" y="29443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8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department management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8439912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8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management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8439912" y="37856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8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Knowledge-base re-indexing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8439912" y="4206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8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usage reports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50292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JOURNEY (SIMPLIFIED)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02920" y="5257800"/>
            <a:ext cx="1711452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32" name="Text 27"/>
          <p:cNvSpPr/>
          <p:nvPr/>
        </p:nvSpPr>
        <p:spPr>
          <a:xfrm>
            <a:off x="594360" y="5312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576072" y="5550408"/>
            <a:ext cx="15651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2232660" y="5678424"/>
            <a:ext cx="181051" cy="164592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35" name="Shape 30"/>
          <p:cNvSpPr/>
          <p:nvPr/>
        </p:nvSpPr>
        <p:spPr>
          <a:xfrm>
            <a:off x="2415540" y="5257800"/>
            <a:ext cx="1711452" cy="1005840"/>
          </a:xfrm>
          <a:prstGeom prst="roundRect">
            <a:avLst>
              <a:gd name="adj" fmla="val 7273"/>
            </a:avLst>
          </a:prstGeom>
          <a:solidFill>
            <a:srgbClr val="29B6D8"/>
          </a:solidFill>
          <a:ln/>
        </p:spPr>
      </p:sp>
      <p:sp>
        <p:nvSpPr>
          <p:cNvPr id="36" name="Text 31"/>
          <p:cNvSpPr/>
          <p:nvPr/>
        </p:nvSpPr>
        <p:spPr>
          <a:xfrm>
            <a:off x="2506980" y="5312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2488692" y="5550408"/>
            <a:ext cx="15651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1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4145280" y="5678424"/>
            <a:ext cx="181051" cy="164592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39" name="Shape 34"/>
          <p:cNvSpPr/>
          <p:nvPr/>
        </p:nvSpPr>
        <p:spPr>
          <a:xfrm>
            <a:off x="4328160" y="5257800"/>
            <a:ext cx="1711452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40" name="Text 35"/>
          <p:cNvSpPr/>
          <p:nvPr/>
        </p:nvSpPr>
        <p:spPr>
          <a:xfrm>
            <a:off x="4419600" y="5312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4401312" y="5550408"/>
            <a:ext cx="15651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6057900" y="5678424"/>
            <a:ext cx="181051" cy="164592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43" name="Shape 38"/>
          <p:cNvSpPr/>
          <p:nvPr/>
        </p:nvSpPr>
        <p:spPr>
          <a:xfrm>
            <a:off x="6240780" y="5257800"/>
            <a:ext cx="1711452" cy="1005840"/>
          </a:xfrm>
          <a:prstGeom prst="roundRect">
            <a:avLst>
              <a:gd name="adj" fmla="val 7273"/>
            </a:avLst>
          </a:prstGeom>
          <a:solidFill>
            <a:srgbClr val="29B6D8"/>
          </a:solidFill>
          <a:ln/>
        </p:spPr>
      </p:sp>
      <p:sp>
        <p:nvSpPr>
          <p:cNvPr id="44" name="Text 39"/>
          <p:cNvSpPr/>
          <p:nvPr/>
        </p:nvSpPr>
        <p:spPr>
          <a:xfrm>
            <a:off x="6332220" y="5312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6313932" y="5550408"/>
            <a:ext cx="15651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Recommend-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1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ations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7970520" y="5678424"/>
            <a:ext cx="181051" cy="164592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47" name="Shape 42"/>
          <p:cNvSpPr/>
          <p:nvPr/>
        </p:nvSpPr>
        <p:spPr>
          <a:xfrm>
            <a:off x="8153400" y="5257800"/>
            <a:ext cx="1711452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48" name="Text 43"/>
          <p:cNvSpPr/>
          <p:nvPr/>
        </p:nvSpPr>
        <p:spPr>
          <a:xfrm>
            <a:off x="8244840" y="5312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9" name="Text 44"/>
          <p:cNvSpPr/>
          <p:nvPr/>
        </p:nvSpPr>
        <p:spPr>
          <a:xfrm>
            <a:off x="8226552" y="5550408"/>
            <a:ext cx="15651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050" dirty="0"/>
          </a:p>
        </p:txBody>
      </p:sp>
      <p:sp>
        <p:nvSpPr>
          <p:cNvPr id="50" name="Shape 45"/>
          <p:cNvSpPr/>
          <p:nvPr/>
        </p:nvSpPr>
        <p:spPr>
          <a:xfrm>
            <a:off x="9883140" y="5678424"/>
            <a:ext cx="181051" cy="164592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51" name="Shape 46"/>
          <p:cNvSpPr/>
          <p:nvPr/>
        </p:nvSpPr>
        <p:spPr>
          <a:xfrm>
            <a:off x="10066020" y="5257800"/>
            <a:ext cx="1711452" cy="1005840"/>
          </a:xfrm>
          <a:prstGeom prst="roundRect">
            <a:avLst>
              <a:gd name="adj" fmla="val 7273"/>
            </a:avLst>
          </a:prstGeom>
          <a:solidFill>
            <a:srgbClr val="29B6D8"/>
          </a:solidFill>
          <a:ln/>
        </p:spPr>
      </p:sp>
      <p:sp>
        <p:nvSpPr>
          <p:cNvPr id="52" name="Text 47"/>
          <p:cNvSpPr/>
          <p:nvPr/>
        </p:nvSpPr>
        <p:spPr>
          <a:xfrm>
            <a:off x="10157460" y="5312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3" name="Text 48"/>
          <p:cNvSpPr/>
          <p:nvPr/>
        </p:nvSpPr>
        <p:spPr>
          <a:xfrm>
            <a:off x="10139172" y="5550408"/>
            <a:ext cx="15651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41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Architecture: Retrieval-Augmented Generation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IdeaForge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BUILDING THE KNOWLEDGE BASE (OFFLINE)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pic>
        <p:nvPicPr>
          <p:cNvPr id="8" name="Image 0" descr="/home/claude/icons/file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66420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05740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Projects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17520" y="1911096"/>
            <a:ext cx="221285" cy="201168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11" name="Shape 8"/>
          <p:cNvSpPr/>
          <p:nvPr/>
        </p:nvSpPr>
        <p:spPr>
          <a:xfrm>
            <a:off x="3246120" y="1554480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pic>
        <p:nvPicPr>
          <p:cNvPr id="12" name="Image 1" descr="/home/claude/icons/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6420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205740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760720" y="1911096"/>
            <a:ext cx="221285" cy="201168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15" name="Shape 11"/>
          <p:cNvSpPr/>
          <p:nvPr/>
        </p:nvSpPr>
        <p:spPr>
          <a:xfrm>
            <a:off x="5989320" y="1554480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pic>
        <p:nvPicPr>
          <p:cNvPr id="16" name="Image 2" descr="/home/claude/icons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66420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205740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503920" y="1911096"/>
            <a:ext cx="221285" cy="201168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19" name="Shape 14"/>
          <p:cNvSpPr/>
          <p:nvPr/>
        </p:nvSpPr>
        <p:spPr>
          <a:xfrm>
            <a:off x="8732520" y="1554480"/>
            <a:ext cx="2487168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pic>
        <p:nvPicPr>
          <p:cNvPr id="20" name="Image 3" descr="/home/claude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0" y="1664208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78240" y="205740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02920" y="2880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ANSWERING A QUERY (LIVE, GROUNDED)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02920" y="3200400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E9F0FD"/>
          </a:solidFill>
          <a:ln/>
        </p:spPr>
      </p:sp>
      <p:pic>
        <p:nvPicPr>
          <p:cNvPr id="24" name="Image 4" descr="/home/claude/icons_navy/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0432" y="3310128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9496" y="367588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2180844" y="3579876"/>
            <a:ext cx="170993" cy="155448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27" name="Shape 20"/>
          <p:cNvSpPr/>
          <p:nvPr/>
        </p:nvSpPr>
        <p:spPr>
          <a:xfrm>
            <a:off x="2340864" y="3200400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E9F0FD"/>
          </a:solidFill>
          <a:ln/>
        </p:spPr>
      </p:sp>
      <p:pic>
        <p:nvPicPr>
          <p:cNvPr id="28" name="Image 5" descr="/home/claude/icons_navy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8376" y="3310128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377440" y="367588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4018788" y="3579876"/>
            <a:ext cx="170993" cy="155448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31" name="Shape 23"/>
          <p:cNvSpPr/>
          <p:nvPr/>
        </p:nvSpPr>
        <p:spPr>
          <a:xfrm>
            <a:off x="4178808" y="3200400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E9F0FD"/>
          </a:solidFill>
          <a:ln/>
        </p:spPr>
      </p:sp>
      <p:pic>
        <p:nvPicPr>
          <p:cNvPr id="32" name="Image 6" descr="/home/claude/icons_navy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310128"/>
            <a:ext cx="329184" cy="32918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215384" y="367588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Search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5856732" y="3579876"/>
            <a:ext cx="170993" cy="155448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35" name="Shape 26"/>
          <p:cNvSpPr/>
          <p:nvPr/>
        </p:nvSpPr>
        <p:spPr>
          <a:xfrm>
            <a:off x="6016752" y="3200400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E9F0FD"/>
          </a:solidFill>
          <a:ln/>
        </p:spPr>
      </p:sp>
      <p:pic>
        <p:nvPicPr>
          <p:cNvPr id="36" name="Image 7" descr="/home/claude/icons_navy/file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3310128"/>
            <a:ext cx="329184" cy="329184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053328" y="367588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Prompt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7694676" y="3579876"/>
            <a:ext cx="170993" cy="155448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39" name="Shape 29"/>
          <p:cNvSpPr/>
          <p:nvPr/>
        </p:nvSpPr>
        <p:spPr>
          <a:xfrm>
            <a:off x="7854696" y="3200400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E9F0FD"/>
          </a:solidFill>
          <a:ln/>
        </p:spPr>
      </p:sp>
      <p:pic>
        <p:nvPicPr>
          <p:cNvPr id="40" name="Image 8" descr="/home/claude/icons_navy/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3310128"/>
            <a:ext cx="329184" cy="32918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891272" y="367588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(LLM)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9532620" y="3579876"/>
            <a:ext cx="170993" cy="155448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43" name="Shape 32"/>
          <p:cNvSpPr/>
          <p:nvPr/>
        </p:nvSpPr>
        <p:spPr>
          <a:xfrm>
            <a:off x="9692640" y="3200400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29B6D8"/>
          </a:solidFill>
          <a:ln/>
        </p:spPr>
      </p:sp>
      <p:pic>
        <p:nvPicPr>
          <p:cNvPr id="44" name="Image 9" descr="/home/claude/icons/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0152" y="3310128"/>
            <a:ext cx="329184" cy="329184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9729216" y="3675888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1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41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502920" y="4434840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47" name="Text 35"/>
          <p:cNvSpPr/>
          <p:nvPr/>
        </p:nvSpPr>
        <p:spPr>
          <a:xfrm>
            <a:off x="777240" y="459028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RAG matters</a:t>
            </a:r>
            <a:endParaRPr lang="en-US" sz="1400" dirty="0"/>
          </a:p>
        </p:txBody>
      </p:sp>
      <p:sp>
        <p:nvSpPr>
          <p:cNvPr id="48" name="Text 36"/>
          <p:cNvSpPr/>
          <p:nvPr/>
        </p:nvSpPr>
        <p:spPr>
          <a:xfrm>
            <a:off x="777240" y="4937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8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retrieved from real archived projects — not invented</a:t>
            </a:r>
            <a:endParaRPr lang="en-US" sz="800" dirty="0"/>
          </a:p>
        </p:txBody>
      </p:sp>
      <p:sp>
        <p:nvSpPr>
          <p:cNvPr id="49" name="Text 37"/>
          <p:cNvSpPr/>
          <p:nvPr/>
        </p:nvSpPr>
        <p:spPr>
          <a:xfrm>
            <a:off x="777240" y="52852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8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powers search, novelty, and the chatbot</a:t>
            </a:r>
            <a:endParaRPr lang="en-US" sz="800" dirty="0"/>
          </a:p>
        </p:txBody>
      </p:sp>
      <p:sp>
        <p:nvSpPr>
          <p:cNvPr id="50" name="Text 38"/>
          <p:cNvSpPr/>
          <p:nvPr/>
        </p:nvSpPr>
        <p:spPr>
          <a:xfrm>
            <a:off x="6263640" y="4937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8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ChromaDB collection for archive, one for live proposal drafts</a:t>
            </a:r>
            <a:endParaRPr lang="en-US" sz="800" dirty="0"/>
          </a:p>
        </p:txBody>
      </p:sp>
      <p:sp>
        <p:nvSpPr>
          <p:cNvPr id="51" name="Text 39"/>
          <p:cNvSpPr/>
          <p:nvPr/>
        </p:nvSpPr>
        <p:spPr>
          <a:xfrm>
            <a:off x="6263640" y="52852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800" dirty="0">
                <a:solidFill>
                  <a:srgbClr val="29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 templates per feature, versioned for evaluation</a:t>
            </a:r>
            <a:endParaRPr lang="en-US" sz="800" dirty="0"/>
          </a:p>
        </p:txBody>
      </p:sp>
      <p:sp>
        <p:nvSpPr>
          <p:cNvPr id="52" name="Text 40"/>
          <p:cNvSpPr/>
          <p:nvPr/>
        </p:nvSpPr>
        <p:spPr>
          <a:xfrm>
            <a:off x="502920" y="605332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in: Lewis et al., RAG for Knowledge-Intensive NLP Tasks (NeurIPS 2020)  ·  Reimers &amp; Gurevych, Sentence-BERT (EMNLP 2019)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Workflows: Search, Similarity &amp; Novelty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IdeaForge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80760" y="14173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SIMILARITY, NOVELTY &amp; DIFFICULTY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01368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E9F0FD"/>
          </a:solidFill>
          <a:ln/>
        </p:spPr>
      </p:sp>
      <p:pic>
        <p:nvPicPr>
          <p:cNvPr id="9" name="Image 0" descr="/home/claude/icons_navy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048256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801368"/>
            <a:ext cx="4352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types a natural-language query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58668" y="2715768"/>
            <a:ext cx="146304" cy="160934"/>
          </a:xfrm>
          <a:prstGeom prst="downArrow">
            <a:avLst/>
          </a:prstGeom>
          <a:solidFill>
            <a:srgbClr val="8592AA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" y="2862072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E9F0FD"/>
          </a:solidFill>
          <a:ln/>
        </p:spPr>
      </p:sp>
      <p:pic>
        <p:nvPicPr>
          <p:cNvPr id="13" name="Image 1" descr="/home/claude/icons_navy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10896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2862072"/>
            <a:ext cx="4352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embedded via Sentence Transformers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058668" y="3776472"/>
            <a:ext cx="146304" cy="160934"/>
          </a:xfrm>
          <a:prstGeom prst="downArrow">
            <a:avLst/>
          </a:prstGeom>
          <a:solidFill>
            <a:srgbClr val="8592AA"/>
          </a:solidFill>
          <a:ln/>
        </p:spPr>
      </p:sp>
      <p:sp>
        <p:nvSpPr>
          <p:cNvPr id="16" name="Shape 12"/>
          <p:cNvSpPr/>
          <p:nvPr/>
        </p:nvSpPr>
        <p:spPr>
          <a:xfrm>
            <a:off x="502920" y="3922776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E9F0FD"/>
          </a:solidFill>
          <a:ln/>
        </p:spPr>
      </p:sp>
      <p:pic>
        <p:nvPicPr>
          <p:cNvPr id="17" name="Image 2" descr="/home/claude/icons_navy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169664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922776"/>
            <a:ext cx="4352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cosine-similarity search (top-k)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3058668" y="4837176"/>
            <a:ext cx="146304" cy="160934"/>
          </a:xfrm>
          <a:prstGeom prst="downArrow">
            <a:avLst/>
          </a:prstGeom>
          <a:solidFill>
            <a:srgbClr val="8592AA"/>
          </a:solidFill>
          <a:ln/>
        </p:spPr>
      </p:sp>
      <p:sp>
        <p:nvSpPr>
          <p:cNvPr id="20" name="Shape 15"/>
          <p:cNvSpPr/>
          <p:nvPr/>
        </p:nvSpPr>
        <p:spPr>
          <a:xfrm>
            <a:off x="502920" y="498348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1E2761"/>
          </a:solidFill>
          <a:ln/>
        </p:spPr>
      </p:sp>
      <p:pic>
        <p:nvPicPr>
          <p:cNvPr id="21" name="Image 3" descr="/home/claude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230368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4983480"/>
            <a:ext cx="4352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ranked by semantic relevance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080760" y="1801368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E9F0FD"/>
          </a:solidFill>
          <a:ln/>
        </p:spPr>
      </p:sp>
      <p:pic>
        <p:nvPicPr>
          <p:cNvPr id="24" name="Image 4" descr="/home/claude/icons_navy/filea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352" y="2048256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12280" y="1801368"/>
            <a:ext cx="4352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 a new proposal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8636508" y="2715768"/>
            <a:ext cx="146304" cy="160934"/>
          </a:xfrm>
          <a:prstGeom prst="downArrow">
            <a:avLst/>
          </a:prstGeom>
          <a:solidFill>
            <a:srgbClr val="8592AA"/>
          </a:solidFill>
          <a:ln/>
        </p:spPr>
      </p:sp>
      <p:sp>
        <p:nvSpPr>
          <p:cNvPr id="27" name="Shape 20"/>
          <p:cNvSpPr/>
          <p:nvPr/>
        </p:nvSpPr>
        <p:spPr>
          <a:xfrm>
            <a:off x="6080760" y="2862072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E9F0FD"/>
          </a:solidFill>
          <a:ln/>
        </p:spPr>
      </p:sp>
      <p:pic>
        <p:nvPicPr>
          <p:cNvPr id="28" name="Image 5" descr="/home/claude/icons_navy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108960"/>
            <a:ext cx="402336" cy="40233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812280" y="2862072"/>
            <a:ext cx="4352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embedded &amp; compared to archive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8636508" y="3776472"/>
            <a:ext cx="146304" cy="160934"/>
          </a:xfrm>
          <a:prstGeom prst="downArrow">
            <a:avLst/>
          </a:prstGeom>
          <a:solidFill>
            <a:srgbClr val="8592AA"/>
          </a:solidFill>
          <a:ln/>
        </p:spPr>
      </p:sp>
      <p:sp>
        <p:nvSpPr>
          <p:cNvPr id="31" name="Shape 23"/>
          <p:cNvSpPr/>
          <p:nvPr/>
        </p:nvSpPr>
        <p:spPr>
          <a:xfrm>
            <a:off x="6080760" y="3922776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E9F0FD"/>
          </a:solidFill>
          <a:ln/>
        </p:spPr>
      </p:sp>
      <p:pic>
        <p:nvPicPr>
          <p:cNvPr id="32" name="Image 6" descr="/home/claude/icons_navy/clo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4169664"/>
            <a:ext cx="402336" cy="40233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812280" y="3922776"/>
            <a:ext cx="4352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score computed per match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8636508" y="4837176"/>
            <a:ext cx="146304" cy="160934"/>
          </a:xfrm>
          <a:prstGeom prst="downArrow">
            <a:avLst/>
          </a:prstGeom>
          <a:solidFill>
            <a:srgbClr val="8592AA"/>
          </a:solidFill>
          <a:ln/>
        </p:spPr>
      </p:sp>
      <p:sp>
        <p:nvSpPr>
          <p:cNvPr id="35" name="Shape 26"/>
          <p:cNvSpPr/>
          <p:nvPr/>
        </p:nvSpPr>
        <p:spPr>
          <a:xfrm>
            <a:off x="6080760" y="498348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1E2761"/>
          </a:solidFill>
          <a:ln/>
        </p:spPr>
      </p:sp>
      <p:pic>
        <p:nvPicPr>
          <p:cNvPr id="36" name="Image 7" descr="/home/claude/icons/tachomet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352" y="5230368"/>
            <a:ext cx="402336" cy="40233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812280" y="4983480"/>
            <a:ext cx="43525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explains novelty + estimates difficulty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Supervisor Recommendation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IdeaForge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RAG-grounded recommenders — suggestions are matched against real proposal content and faculty profiles, not generated blind.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47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1947672" cy="960120"/>
          </a:xfrm>
          <a:prstGeom prst="roundRect">
            <a:avLst>
              <a:gd name="adj" fmla="val 7619"/>
            </a:avLst>
          </a:prstGeom>
          <a:solidFill>
            <a:srgbClr val="E9F0FD"/>
          </a:solidFill>
          <a:ln/>
        </p:spPr>
      </p:sp>
      <p:pic>
        <p:nvPicPr>
          <p:cNvPr id="9" name="Image 0" descr="/home/claude/icons_navy/file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6" y="207568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438144" y="2478024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requirements parsed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349240" y="2363724"/>
            <a:ext cx="181051" cy="164592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12" name="Shape 9"/>
          <p:cNvSpPr/>
          <p:nvPr/>
        </p:nvSpPr>
        <p:spPr>
          <a:xfrm>
            <a:off x="5532120" y="1965960"/>
            <a:ext cx="1947672" cy="960120"/>
          </a:xfrm>
          <a:prstGeom prst="roundRect">
            <a:avLst>
              <a:gd name="adj" fmla="val 7619"/>
            </a:avLst>
          </a:prstGeom>
          <a:solidFill>
            <a:srgbClr val="E9F0FD"/>
          </a:solidFill>
          <a:ln/>
        </p:spPr>
      </p:sp>
      <p:pic>
        <p:nvPicPr>
          <p:cNvPr id="13" name="Image 1" descr="/home/claude/icons_navy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6" y="207568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86984" y="2478024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similar past projects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498080" y="2363724"/>
            <a:ext cx="181051" cy="164592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16" name="Shape 12"/>
          <p:cNvSpPr/>
          <p:nvPr/>
        </p:nvSpPr>
        <p:spPr>
          <a:xfrm>
            <a:off x="7680960" y="1965960"/>
            <a:ext cx="1947672" cy="960120"/>
          </a:xfrm>
          <a:prstGeom prst="roundRect">
            <a:avLst>
              <a:gd name="adj" fmla="val 7619"/>
            </a:avLst>
          </a:prstGeom>
          <a:solidFill>
            <a:srgbClr val="E9F0FD"/>
          </a:solidFill>
          <a:ln/>
        </p:spPr>
      </p:sp>
      <p:pic>
        <p:nvPicPr>
          <p:cNvPr id="17" name="Image 2" descr="/home/claude/icons_navy/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916" y="207568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35824" y="2478024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suggests a tech stack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646920" y="2363724"/>
            <a:ext cx="181051" cy="164592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20" name="Shape 15"/>
          <p:cNvSpPr/>
          <p:nvPr/>
        </p:nvSpPr>
        <p:spPr>
          <a:xfrm>
            <a:off x="9829800" y="1965960"/>
            <a:ext cx="1947672" cy="960120"/>
          </a:xfrm>
          <a:prstGeom prst="roundRect">
            <a:avLst>
              <a:gd name="adj" fmla="val 7619"/>
            </a:avLst>
          </a:prstGeom>
          <a:solidFill>
            <a:srgbClr val="29B6D8"/>
          </a:solidFill>
          <a:ln/>
        </p:spPr>
      </p:sp>
      <p:pic>
        <p:nvPicPr>
          <p:cNvPr id="21" name="Image 3" descr="/home/claude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756" y="207568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84664" y="2478024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ranked suggestions shown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502920" y="35021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3383280" y="3520440"/>
            <a:ext cx="1947672" cy="960120"/>
          </a:xfrm>
          <a:prstGeom prst="roundRect">
            <a:avLst>
              <a:gd name="adj" fmla="val 7619"/>
            </a:avLst>
          </a:prstGeom>
          <a:solidFill>
            <a:srgbClr val="E9F0FD"/>
          </a:solidFill>
          <a:ln/>
        </p:spPr>
      </p:sp>
      <p:pic>
        <p:nvPicPr>
          <p:cNvPr id="25" name="Image 4" descr="/home/claude/icons_navy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4236" y="363016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438144" y="4032504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topic embedded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5349240" y="3918204"/>
            <a:ext cx="181051" cy="164592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28" name="Shape 21"/>
          <p:cNvSpPr/>
          <p:nvPr/>
        </p:nvSpPr>
        <p:spPr>
          <a:xfrm>
            <a:off x="5532120" y="3520440"/>
            <a:ext cx="1947672" cy="960120"/>
          </a:xfrm>
          <a:prstGeom prst="roundRect">
            <a:avLst>
              <a:gd name="adj" fmla="val 7619"/>
            </a:avLst>
          </a:prstGeom>
          <a:solidFill>
            <a:srgbClr val="E9F0FD"/>
          </a:solidFill>
          <a:ln/>
        </p:spPr>
      </p:sp>
      <p:pic>
        <p:nvPicPr>
          <p:cNvPr id="29" name="Image 5" descr="/home/claude/icons_navy/sitem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3076" y="3630168"/>
            <a:ext cx="365760" cy="3657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586984" y="4032504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vs. faculty research-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embeddings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7498080" y="3918204"/>
            <a:ext cx="181051" cy="164592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32" name="Shape 24"/>
          <p:cNvSpPr/>
          <p:nvPr/>
        </p:nvSpPr>
        <p:spPr>
          <a:xfrm>
            <a:off x="7680960" y="3520440"/>
            <a:ext cx="1947672" cy="960120"/>
          </a:xfrm>
          <a:prstGeom prst="roundRect">
            <a:avLst>
              <a:gd name="adj" fmla="val 7619"/>
            </a:avLst>
          </a:prstGeom>
          <a:solidFill>
            <a:srgbClr val="E9F0FD"/>
          </a:solidFill>
          <a:ln/>
        </p:spPr>
      </p:sp>
      <p:pic>
        <p:nvPicPr>
          <p:cNvPr id="33" name="Image 6" descr="/home/claude/icons_navy/userti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1916" y="3630168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735824" y="4032504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ranked by fit</a:t>
            </a:r>
            <a:endParaRPr lang="en-US" sz="950" dirty="0"/>
          </a:p>
        </p:txBody>
      </p:sp>
      <p:sp>
        <p:nvSpPr>
          <p:cNvPr id="35" name="Shape 26"/>
          <p:cNvSpPr/>
          <p:nvPr/>
        </p:nvSpPr>
        <p:spPr>
          <a:xfrm>
            <a:off x="9646920" y="3918204"/>
            <a:ext cx="181051" cy="164592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36" name="Shape 27"/>
          <p:cNvSpPr/>
          <p:nvPr/>
        </p:nvSpPr>
        <p:spPr>
          <a:xfrm>
            <a:off x="9829800" y="3520440"/>
            <a:ext cx="1947672" cy="960120"/>
          </a:xfrm>
          <a:prstGeom prst="roundRect">
            <a:avLst>
              <a:gd name="adj" fmla="val 7619"/>
            </a:avLst>
          </a:prstGeom>
          <a:solidFill>
            <a:srgbClr val="29B6D8"/>
          </a:solidFill>
          <a:ln/>
        </p:spPr>
      </p:sp>
      <p:pic>
        <p:nvPicPr>
          <p:cNvPr id="37" name="Image 7" descr="/home/claude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756" y="3630168"/>
            <a:ext cx="365760" cy="36576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884664" y="4032504"/>
            <a:ext cx="1837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1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matches shown to student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502920" y="516636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731520" y="53492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8" descr="/home/claude/icons/shie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112" y="5513832"/>
            <a:ext cx="329184" cy="329184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1554480" y="5303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Grounded, not generic</a:t>
            </a:r>
            <a:endParaRPr lang="en-US" sz="1300" dirty="0"/>
          </a:p>
        </p:txBody>
      </p:sp>
      <p:sp>
        <p:nvSpPr>
          <p:cNvPr id="43" name="Text 32"/>
          <p:cNvSpPr/>
          <p:nvPr/>
        </p:nvSpPr>
        <p:spPr>
          <a:xfrm>
            <a:off x="1554480" y="55961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recommenders retrieve real institutional context before the LLM responds — the same discipline the RAG chatbot uses — so suggestions stay traceable to actual archive data and faculty profiles.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&amp; 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IdeaForge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ER OVERVIEW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69164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E9F0F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0" y="1691640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E9F0FD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691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68780" y="26974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68780" y="2697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714500" y="2194560"/>
            <a:ext cx="1143000" cy="502920"/>
          </a:xfrm>
          <a:prstGeom prst="line">
            <a:avLst/>
          </a:prstGeom>
          <a:noFill/>
          <a:ln w="12700">
            <a:solidFill>
              <a:srgbClr val="8592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2857500" y="2194560"/>
            <a:ext cx="960120" cy="502920"/>
          </a:xfrm>
          <a:prstGeom prst="line">
            <a:avLst/>
          </a:prstGeom>
          <a:noFill/>
          <a:ln w="12700">
            <a:solidFill>
              <a:srgbClr val="8592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" y="3767328"/>
            <a:ext cx="932688" cy="685800"/>
          </a:xfrm>
          <a:prstGeom prst="roundRect">
            <a:avLst>
              <a:gd name="adj" fmla="val 10667"/>
            </a:avLst>
          </a:prstGeom>
          <a:solidFill>
            <a:srgbClr val="E9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" y="3767328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 flipH="1">
            <a:off x="1028700" y="3264408"/>
            <a:ext cx="1828800" cy="502920"/>
          </a:xfrm>
          <a:prstGeom prst="line">
            <a:avLst/>
          </a:prstGeom>
          <a:noFill/>
          <a:ln w="12700">
            <a:solidFill>
              <a:srgbClr val="8592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36776" y="3767328"/>
            <a:ext cx="932688" cy="685800"/>
          </a:xfrm>
          <a:prstGeom prst="roundRect">
            <a:avLst>
              <a:gd name="adj" fmla="val 10667"/>
            </a:avLst>
          </a:prstGeom>
          <a:solidFill>
            <a:srgbClr val="E9F0FD"/>
          </a:solidFill>
          <a:ln/>
        </p:spPr>
      </p:sp>
      <p:sp>
        <p:nvSpPr>
          <p:cNvPr id="19" name="Text 17"/>
          <p:cNvSpPr/>
          <p:nvPr/>
        </p:nvSpPr>
        <p:spPr>
          <a:xfrm>
            <a:off x="1655064" y="3767328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 flipH="1">
            <a:off x="2103120" y="3264408"/>
            <a:ext cx="754380" cy="502920"/>
          </a:xfrm>
          <a:prstGeom prst="line">
            <a:avLst/>
          </a:prstGeom>
          <a:noFill/>
          <a:ln w="12700">
            <a:solidFill>
              <a:srgbClr val="8592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11196" y="3767328"/>
            <a:ext cx="932688" cy="685800"/>
          </a:xfrm>
          <a:prstGeom prst="roundRect">
            <a:avLst>
              <a:gd name="adj" fmla="val 10667"/>
            </a:avLst>
          </a:prstGeom>
          <a:solidFill>
            <a:srgbClr val="E9F0FD"/>
          </a:solidFill>
          <a:ln/>
        </p:spPr>
      </p:sp>
      <p:sp>
        <p:nvSpPr>
          <p:cNvPr id="22" name="Text 20"/>
          <p:cNvSpPr/>
          <p:nvPr/>
        </p:nvSpPr>
        <p:spPr>
          <a:xfrm>
            <a:off x="2729484" y="3767328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Recommend-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ations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857500" y="3264408"/>
            <a:ext cx="320040" cy="502920"/>
          </a:xfrm>
          <a:prstGeom prst="line">
            <a:avLst/>
          </a:prstGeom>
          <a:noFill/>
          <a:ln w="12700">
            <a:solidFill>
              <a:srgbClr val="8592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85616" y="3767328"/>
            <a:ext cx="932688" cy="685800"/>
          </a:xfrm>
          <a:prstGeom prst="roundRect">
            <a:avLst>
              <a:gd name="adj" fmla="val 10667"/>
            </a:avLst>
          </a:prstGeom>
          <a:solidFill>
            <a:srgbClr val="E9F0FD"/>
          </a:solidFill>
          <a:ln/>
        </p:spPr>
      </p:sp>
      <p:sp>
        <p:nvSpPr>
          <p:cNvPr id="25" name="Text 23"/>
          <p:cNvSpPr/>
          <p:nvPr/>
        </p:nvSpPr>
        <p:spPr>
          <a:xfrm>
            <a:off x="3803904" y="3767328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857500" y="3264408"/>
            <a:ext cx="1394460" cy="502920"/>
          </a:xfrm>
          <a:prstGeom prst="line">
            <a:avLst/>
          </a:prstGeom>
          <a:noFill/>
          <a:ln w="12700">
            <a:solidFill>
              <a:srgbClr val="8592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60036" y="3767328"/>
            <a:ext cx="932688" cy="685800"/>
          </a:xfrm>
          <a:prstGeom prst="roundRect">
            <a:avLst>
              <a:gd name="adj" fmla="val 10667"/>
            </a:avLst>
          </a:prstGeom>
          <a:solidFill>
            <a:srgbClr val="E9F0FD"/>
          </a:solidFill>
          <a:ln/>
        </p:spPr>
      </p:sp>
      <p:sp>
        <p:nvSpPr>
          <p:cNvPr id="28" name="Text 26"/>
          <p:cNvSpPr/>
          <p:nvPr/>
        </p:nvSpPr>
        <p:spPr>
          <a:xfrm>
            <a:off x="4878324" y="3767328"/>
            <a:ext cx="896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857500" y="3264408"/>
            <a:ext cx="2468880" cy="502920"/>
          </a:xfrm>
          <a:prstGeom prst="line">
            <a:avLst/>
          </a:prstGeom>
          <a:noFill/>
          <a:ln w="12700">
            <a:solidFill>
              <a:srgbClr val="8592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118872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JUSTIFICATION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14721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0" descr="/home/claude/icons/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1586484"/>
            <a:ext cx="228600" cy="2286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976872" y="140817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6976872" y="16642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role-based portal UI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355080" y="21305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1" descr="/home/claude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2244852"/>
            <a:ext cx="228600" cy="22860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976872" y="206654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6976872" y="232257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async, typed REST API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355080" y="2788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0" name="Image 2" descr="/home/claude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380" y="2903220"/>
            <a:ext cx="228600" cy="22860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976872" y="27249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42" name="Text 37"/>
          <p:cNvSpPr/>
          <p:nvPr/>
        </p:nvSpPr>
        <p:spPr>
          <a:xfrm>
            <a:off x="6976872" y="298094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— users, proposals, reviews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6355080" y="34472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4" name="Image 3" descr="/home/claude/icons/layergro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9380" y="3561588"/>
            <a:ext cx="228600" cy="22860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6976872" y="33832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50" dirty="0"/>
          </a:p>
        </p:txBody>
      </p:sp>
      <p:sp>
        <p:nvSpPr>
          <p:cNvPr id="46" name="Text 40"/>
          <p:cNvSpPr/>
          <p:nvPr/>
        </p:nvSpPr>
        <p:spPr>
          <a:xfrm>
            <a:off x="6976872" y="36393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— semantic embeddings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6355080" y="41056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8" name="Image 4" descr="/home/claude/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9380" y="4219956"/>
            <a:ext cx="228600" cy="22860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6976872" y="40416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Gemini</a:t>
            </a:r>
            <a:endParaRPr lang="en-US" sz="1250" dirty="0"/>
          </a:p>
        </p:txBody>
      </p:sp>
      <p:sp>
        <p:nvSpPr>
          <p:cNvPr id="50" name="Text 43"/>
          <p:cNvSpPr/>
          <p:nvPr/>
        </p:nvSpPr>
        <p:spPr>
          <a:xfrm>
            <a:off x="6976872" y="42976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 — RAG, prompt chaining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6355080" y="47640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2" name="Image 5" descr="/home/claude/icons/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9380" y="4878324"/>
            <a:ext cx="228600" cy="228600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6976872" y="470001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250" dirty="0"/>
          </a:p>
        </p:txBody>
      </p:sp>
      <p:sp>
        <p:nvSpPr>
          <p:cNvPr id="54" name="Text 46"/>
          <p:cNvSpPr/>
          <p:nvPr/>
        </p:nvSpPr>
        <p:spPr>
          <a:xfrm>
            <a:off x="6976872" y="49560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short-lived tokens</a:t>
            </a:r>
            <a:endParaRPr lang="en-US" sz="1000" dirty="0"/>
          </a:p>
        </p:txBody>
      </p:sp>
      <p:sp>
        <p:nvSpPr>
          <p:cNvPr id="55" name="Shape 47"/>
          <p:cNvSpPr/>
          <p:nvPr/>
        </p:nvSpPr>
        <p:spPr>
          <a:xfrm>
            <a:off x="6355080" y="54223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6" name="Image 6" descr="/home/claude/icons/boxop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9380" y="5536692"/>
            <a:ext cx="228600" cy="228600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6976872" y="535838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</p:txBody>
      </p:sp>
      <p:sp>
        <p:nvSpPr>
          <p:cNvPr id="58" name="Text 49"/>
          <p:cNvSpPr/>
          <p:nvPr/>
        </p:nvSpPr>
        <p:spPr>
          <a:xfrm>
            <a:off x="6976872" y="561441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 — Render / Railway / VPS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Works: Metrics &amp; Advantages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IdeaForge AI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27048"/>
            <a:ext cx="262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9B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relevance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(top-5 results)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28416" y="141732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28416" y="1527048"/>
            <a:ext cx="262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9B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419856" y="224028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detection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53912" y="141732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53912" y="1527048"/>
            <a:ext cx="262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9B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245352" y="224028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answer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79408" y="141732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79408" y="1527048"/>
            <a:ext cx="262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9B6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99%+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070848" y="224028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uptime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(demo period)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2461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OVER EXISTING TOOLS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566160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E9F0FD"/>
          </a:solidFill>
          <a:ln/>
        </p:spPr>
      </p:sp>
      <p:pic>
        <p:nvPicPr>
          <p:cNvPr id="20" name="Image 0" descr="/home/claude/icons_navy/x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730752"/>
            <a:ext cx="292608" cy="29260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51560" y="356616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Keyword-only search (IEEE Xplore, Scholar)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852160" y="3776472"/>
            <a:ext cx="221285" cy="201168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23" name="Shape 20"/>
          <p:cNvSpPr/>
          <p:nvPr/>
        </p:nvSpPr>
        <p:spPr>
          <a:xfrm>
            <a:off x="6355080" y="3566160"/>
            <a:ext cx="5193792" cy="621792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pic>
        <p:nvPicPr>
          <p:cNvPr id="24" name="Image 1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3730752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03720" y="3566160"/>
            <a:ext cx="4507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via Sentence-BERT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02920" y="4279392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E9F0FD"/>
          </a:solidFill>
          <a:ln/>
        </p:spPr>
      </p:sp>
      <p:pic>
        <p:nvPicPr>
          <p:cNvPr id="27" name="Image 2" descr="/home/claude/icons_navy/x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443984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51560" y="4279392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faculty comparison of proposals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852160" y="4489704"/>
            <a:ext cx="221285" cy="201168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30" name="Shape 25"/>
          <p:cNvSpPr/>
          <p:nvPr/>
        </p:nvSpPr>
        <p:spPr>
          <a:xfrm>
            <a:off x="6355080" y="4279392"/>
            <a:ext cx="5193792" cy="621792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pic>
        <p:nvPicPr>
          <p:cNvPr id="31" name="Image 3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4443984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03720" y="4279392"/>
            <a:ext cx="4507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similarity + novelty detection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02920" y="4992624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E9F0FD"/>
          </a:solidFill>
          <a:ln/>
        </p:spPr>
      </p:sp>
      <p:pic>
        <p:nvPicPr>
          <p:cNvPr id="34" name="Image 4" descr="/home/claude/icons_navy/x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57216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51560" y="4992624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technology or supervisor guidance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5852160" y="5202936"/>
            <a:ext cx="221285" cy="201168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37" name="Shape 30"/>
          <p:cNvSpPr/>
          <p:nvPr/>
        </p:nvSpPr>
        <p:spPr>
          <a:xfrm>
            <a:off x="6355080" y="4992624"/>
            <a:ext cx="5193792" cy="621792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pic>
        <p:nvPicPr>
          <p:cNvPr id="38" name="Image 5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5157216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03720" y="4992624"/>
            <a:ext cx="4507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AI-grounded tech &amp; supervisor recommendations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502920" y="5705856"/>
            <a:ext cx="5212080" cy="621792"/>
          </a:xfrm>
          <a:prstGeom prst="roundRect">
            <a:avLst>
              <a:gd name="adj" fmla="val 11765"/>
            </a:avLst>
          </a:prstGeom>
          <a:solidFill>
            <a:srgbClr val="E9F0FD"/>
          </a:solidFill>
          <a:ln/>
        </p:spPr>
      </p:sp>
      <p:pic>
        <p:nvPicPr>
          <p:cNvPr id="41" name="Image 6" descr="/home/claude/icons_navy/x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870448"/>
            <a:ext cx="292608" cy="29260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051560" y="5705856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 across the lifecycle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5852160" y="5916168"/>
            <a:ext cx="221285" cy="201168"/>
          </a:xfrm>
          <a:prstGeom prst="rightArrow">
            <a:avLst/>
          </a:prstGeom>
          <a:solidFill>
            <a:srgbClr val="8592AA"/>
          </a:solidFill>
          <a:ln/>
        </p:spPr>
      </p:sp>
      <p:sp>
        <p:nvSpPr>
          <p:cNvPr id="44" name="Shape 35"/>
          <p:cNvSpPr/>
          <p:nvPr/>
        </p:nvSpPr>
        <p:spPr>
          <a:xfrm>
            <a:off x="6355080" y="5705856"/>
            <a:ext cx="5193792" cy="621792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pic>
        <p:nvPicPr>
          <p:cNvPr id="45" name="Image 7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5870448"/>
            <a:ext cx="292608" cy="29260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903720" y="5705856"/>
            <a:ext cx="4507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Student / Faculty / Admin platform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MVP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0002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IdeaForge AI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for this capstone is locked to the department-level MVP. These extensions are natural next steps once the core platform is validated.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0574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/home/claude/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222885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8803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Management System Integration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34256" y="17830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8576" y="2057400"/>
            <a:ext cx="685800" cy="685800"/>
          </a:xfrm>
          <a:prstGeom prst="ellipse">
            <a:avLst/>
          </a:prstGeom>
          <a:solidFill>
            <a:srgbClr val="29B6D8"/>
          </a:solidFill>
          <a:ln/>
        </p:spPr>
      </p:sp>
      <p:pic>
        <p:nvPicPr>
          <p:cNvPr id="13" name="Image 1" descr="/home/claude/icons/file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026" y="222885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8576" y="28803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Research Paper Recommendations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65592" y="17830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39912" y="20574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362" y="222885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39912" y="28803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Analysis for Implementation Quality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02920" y="3877056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151376"/>
            <a:ext cx="685800" cy="685800"/>
          </a:xfrm>
          <a:prstGeom prst="ellipse">
            <a:avLst/>
          </a:prstGeom>
          <a:solidFill>
            <a:srgbClr val="29B6D8"/>
          </a:solidFill>
          <a:ln/>
        </p:spPr>
      </p:sp>
      <p:pic>
        <p:nvPicPr>
          <p:cNvPr id="21" name="Image 3" descr="/home/claude/icons/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690" y="4322826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97433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Implementation Roadmaps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334256" y="3877056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08576" y="4151376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/home/claude/icons/usert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0026" y="4322826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08576" y="497433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Mentor Portal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8165592" y="3877056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439912" y="4151376"/>
            <a:ext cx="685800" cy="685800"/>
          </a:xfrm>
          <a:prstGeom prst="ellipse">
            <a:avLst/>
          </a:prstGeom>
          <a:solidFill>
            <a:srgbClr val="29B6D8"/>
          </a:solidFill>
          <a:ln/>
        </p:spPr>
      </p:sp>
      <p:pic>
        <p:nvPicPr>
          <p:cNvPr id="29" name="Image 5" descr="/home/claude/icons/mob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1362" y="4322826"/>
            <a:ext cx="342900" cy="3429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439912" y="4974336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Application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572000" cy="4572000"/>
          </a:xfrm>
          <a:prstGeom prst="ellipse">
            <a:avLst/>
          </a:prstGeom>
          <a:solidFill>
            <a:srgbClr val="141C4B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141C4B"/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777240"/>
            <a:ext cx="914400" cy="914400"/>
          </a:xfrm>
          <a:prstGeom prst="ellipse">
            <a:avLst/>
          </a:prstGeom>
          <a:solidFill>
            <a:srgbClr val="29B6D8"/>
          </a:solidFill>
          <a:ln/>
        </p:spPr>
      </p:sp>
      <p:pic>
        <p:nvPicPr>
          <p:cNvPr id="5" name="Image 0" descr="/home/claude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76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65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IdeaForge AI turns a fragmented academic archive into one intelligent, RAG-grounded companion — helping students choose what to build next, and faculty review what they build.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71516" y="3429000"/>
            <a:ext cx="1645920" cy="0"/>
          </a:xfrm>
          <a:prstGeom prst="line">
            <a:avLst/>
          </a:prstGeom>
          <a:noFill/>
          <a:ln w="19050">
            <a:solidFill>
              <a:srgbClr val="29B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370332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0" y="44348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0" y="63550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9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IdeaForge AI  ·  CSE299 Capstone Project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1581</Words>
  <Application>Microsoft Office PowerPoint</Application>
  <PresentationFormat>Custom</PresentationFormat>
  <Paragraphs>239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Hrick Romit</cp:lastModifiedBy>
  <cp:revision>2</cp:revision>
  <dcterms:created xsi:type="dcterms:W3CDTF">2026-08-01T06:55:25Z</dcterms:created>
  <dcterms:modified xsi:type="dcterms:W3CDTF">2026-08-02T19:06:16Z</dcterms:modified>
</cp:coreProperties>
</file>